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4F6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A4F63"/>
                </a:solidFill>
                <a:latin typeface="Arial"/>
              </a:rPr>
              <a:t>Total Enrolments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International Enrolments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2008</c:v>
                </c:pt>
                <c:pt idx="1">
                  <c:v>5070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International</c:v>
                </c:pt>
                <c:pt idx="1">
                  <c:v>Domestic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35.7</c:v>
                </c:pt>
                <c:pt idx="1">
                  <c:v>64.3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F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F6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4F63"/>
                </a:solidFill>
                <a:latin typeface="Arial"/>
              </a:rPr>
              <a:t>Cumulative Enrolments by Country (2021–2025)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Enrolments 2021–25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Nepal</c:v>
                  </c:pt>
                  <c:pt idx="1">
                    <c:v>India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4210</c:v>
                </c:pt>
                <c:pt idx="1">
                  <c:v>3275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F6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4F63"/>
                </a:solidFill>
                <a:latin typeface="Arial"/>
              </a:rPr>
              <a:t>International Students by Study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Coursework</c:v>
                  </c:pt>
                  <c:pt idx="1">
                    <c:v>HDR (Research)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1965</c:v>
                </c:pt>
                <c:pt idx="1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3108960" cy="310896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STUDENT ENROLMENT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Insights for Leadership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read of the 2021–2025 enrolment data — what changed, why it matters, and what to do next.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Power BI International Student Dashboard  •  Data years 2021–2025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Enrolments Have More Than Doubled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+152.5%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total international enrolments, 2021 → 2025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356616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965960"/>
            <a:ext cx="5760720" cy="4069080"/>
          </a:xfrm>
          <a:prstGeom prst="roundRect">
            <a:avLst>
              <a:gd name="adj" fmla="val 2697"/>
            </a:avLst>
          </a:prstGeom>
          <a:solidFill>
            <a:srgbClr val="FCEFD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1228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246888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sustained, structural growth — not a one-off spike. Housing, orientation, English-pathway support and academic advising need to be resourced for a cohort more than double its 2021 size, and planning should assume the trend continues rather than plateaus.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commission a capacity review of student-support services against a 2026–2027 enrolment forecast, before the next intake cycle.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Enrolment Insights  |  Source: CDU International Student Dashboard, 2021–2025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Students Now Make Up Over a Third of CDU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2024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246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35.7%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989320" y="1965960"/>
            <a:ext cx="5760720" cy="4069080"/>
          </a:xfrm>
          <a:prstGeom prst="roundRect">
            <a:avLst>
              <a:gd name="adj" fmla="val 2697"/>
            </a:avLst>
          </a:prstGeom>
          <a:solidFill>
            <a:srgbClr val="FCEFD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246888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university-wide dependency of this size turns international enrolment from a “nice to have” into a core piece of CDU's financial and operating model. Visa-policy changes, exchange-rate shifts or a single source-country disruption now carry campus-wide consequences.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add international-enrolment concentration to the institutional risk register, with a standing quarterly review, and set an explicit target for growing the domestic pipeline alongside it.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Enrolment Insights  |  Source: CDU International Student Dashboard, 2021–2025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Countries Drive Most of the Growth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846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Bangladesh in third place, then a steep drop-off to China, Vietnam and the smaller source markets.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1965960"/>
            <a:ext cx="5760720" cy="4069080"/>
          </a:xfrm>
          <a:prstGeom prst="roundRect">
            <a:avLst>
              <a:gd name="adj" fmla="val 2697"/>
            </a:avLst>
          </a:prstGeom>
          <a:solidFill>
            <a:srgbClr val="FCEFD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246888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and India together outweigh every other source country combined. That is efficient recruitment, but it is also concentration risk: a policy change or agent disruption in either market would hit total enrolments hard.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commission a market-diversification study and pilot dedicated agent partnerships in 2–3 emerging source countries, so future growth doesn't rest on two markets alone.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Enrolment Insights  |  Source: CDU International Student Dashboard, 2021–2025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Is Re-emerging as a Counterweight Market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37944" y="34747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84832" y="27432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Dip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84832" y="34747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34747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12464" y="27432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Rebound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12464" y="34747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signal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sits well behind Nepal and India in total volume, but the dashboard's year-on-year signal points up after a softer patch — a market worth re-engaging before competitor universities 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965960"/>
            <a:ext cx="5760720" cy="4069080"/>
          </a:xfrm>
          <a:prstGeom prst="roundRect">
            <a:avLst>
              <a:gd name="adj" fmla="val 2697"/>
            </a:avLst>
          </a:prstGeom>
          <a:solidFill>
            <a:srgbClr val="FCEFD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46888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tempting to pour all recruitment energy into the two markets already working. But a rebounding market is the cheapest growth CDU can capture — the relationships and reputation already exist, they just need reinvestment.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ring-fence a modest recruitment and agent-engagement budget specifically for China in the next cycle, separate from the Nepal/India spend, and track it as its own line item.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Enrolment Insights  |  Source: CDU International Student Dashboard, 2021–2025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Almost Entirely Coursework, Not Research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HDR (higher-degree-by-research) students are a rounding error next to the coursework cohort.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1965960"/>
            <a:ext cx="5760720" cy="4069080"/>
          </a:xfrm>
          <a:prstGeom prst="roundRect">
            <a:avLst>
              <a:gd name="adj" fmla="val 2697"/>
            </a:avLst>
          </a:prstGeom>
          <a:solidFill>
            <a:srgbClr val="FCEFD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246888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enrolment story so far is a taught-program success story, not a research one. If CDU's strategic plan leans on research output, higher-degree rankings, or PhD supervision capacity, the current pipeline won't deliver that on its own.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if research growth matters to CDU's strategy, fund a dedicated HDR scholarship and recruitment push alongside the coursework pipeline — don't assume coursework growth will lift HDR numbers by default.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 International Enrolment Insights  |  Source: CDU International Student Dashboard, 2021–2025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2026-09-14T16:01:00Z</dcterms:created>
  <dcterms:modified xsi:type="dcterms:W3CDTF">2026-09-14T16:01:00Z</dcterms:modified>
</cp:coreProperties>
</file>